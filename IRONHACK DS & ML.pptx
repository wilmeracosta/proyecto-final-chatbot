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elegraf Bold" charset="1" panose="00000800000000000000"/>
      <p:regular r:id="rId20"/>
    </p:embeddedFont>
    <p:embeddedFont>
      <p:font typeface="Cheddar" charset="1" panose="00000000000000000000"/>
      <p:regular r:id="rId21"/>
    </p:embeddedFont>
    <p:embeddedFont>
      <p:font typeface="Telegraf" charset="1" panose="00000500000000000000"/>
      <p:regular r:id="rId22"/>
    </p:embeddedFont>
    <p:embeddedFont>
      <p:font typeface="Telegraf Medium" charset="1" panose="000006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http://www.conomad.es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71967" y="6632853"/>
            <a:ext cx="4550946" cy="905000"/>
            <a:chOff x="0" y="0"/>
            <a:chExt cx="1146356" cy="227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6356" cy="227964"/>
            </a:xfrm>
            <a:custGeom>
              <a:avLst/>
              <a:gdLst/>
              <a:ahLst/>
              <a:cxnLst/>
              <a:rect r="r" b="b" t="t" l="l"/>
              <a:pathLst>
                <a:path h="227964" w="1146356">
                  <a:moveTo>
                    <a:pt x="86760" y="0"/>
                  </a:moveTo>
                  <a:lnTo>
                    <a:pt x="1059596" y="0"/>
                  </a:lnTo>
                  <a:cubicBezTo>
                    <a:pt x="1107512" y="0"/>
                    <a:pt x="1146356" y="38844"/>
                    <a:pt x="1146356" y="86760"/>
                  </a:cubicBezTo>
                  <a:lnTo>
                    <a:pt x="1146356" y="141205"/>
                  </a:lnTo>
                  <a:cubicBezTo>
                    <a:pt x="1146356" y="164215"/>
                    <a:pt x="1137215" y="186282"/>
                    <a:pt x="1120945" y="202553"/>
                  </a:cubicBezTo>
                  <a:cubicBezTo>
                    <a:pt x="1104674" y="218823"/>
                    <a:pt x="1082606" y="227964"/>
                    <a:pt x="1059596" y="227964"/>
                  </a:cubicBezTo>
                  <a:lnTo>
                    <a:pt x="86760" y="227964"/>
                  </a:lnTo>
                  <a:cubicBezTo>
                    <a:pt x="38844" y="227964"/>
                    <a:pt x="0" y="189121"/>
                    <a:pt x="0" y="141205"/>
                  </a:cubicBezTo>
                  <a:lnTo>
                    <a:pt x="0" y="86760"/>
                  </a:lnTo>
                  <a:cubicBezTo>
                    <a:pt x="0" y="38844"/>
                    <a:pt x="38844" y="0"/>
                    <a:pt x="86760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46356" cy="323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PRESENTADO POR: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071967" y="7686789"/>
            <a:ext cx="4550946" cy="905000"/>
            <a:chOff x="0" y="0"/>
            <a:chExt cx="1146356" cy="2279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6356" cy="227964"/>
            </a:xfrm>
            <a:custGeom>
              <a:avLst/>
              <a:gdLst/>
              <a:ahLst/>
              <a:cxnLst/>
              <a:rect r="r" b="b" t="t" l="l"/>
              <a:pathLst>
                <a:path h="227964" w="1146356">
                  <a:moveTo>
                    <a:pt x="86760" y="0"/>
                  </a:moveTo>
                  <a:lnTo>
                    <a:pt x="1059596" y="0"/>
                  </a:lnTo>
                  <a:cubicBezTo>
                    <a:pt x="1107512" y="0"/>
                    <a:pt x="1146356" y="38844"/>
                    <a:pt x="1146356" y="86760"/>
                  </a:cubicBezTo>
                  <a:lnTo>
                    <a:pt x="1146356" y="141205"/>
                  </a:lnTo>
                  <a:cubicBezTo>
                    <a:pt x="1146356" y="164215"/>
                    <a:pt x="1137215" y="186282"/>
                    <a:pt x="1120945" y="202553"/>
                  </a:cubicBezTo>
                  <a:cubicBezTo>
                    <a:pt x="1104674" y="218823"/>
                    <a:pt x="1082606" y="227964"/>
                    <a:pt x="1059596" y="227964"/>
                  </a:cubicBezTo>
                  <a:lnTo>
                    <a:pt x="86760" y="227964"/>
                  </a:lnTo>
                  <a:cubicBezTo>
                    <a:pt x="38844" y="227964"/>
                    <a:pt x="0" y="189121"/>
                    <a:pt x="0" y="141205"/>
                  </a:cubicBezTo>
                  <a:lnTo>
                    <a:pt x="0" y="86760"/>
                  </a:lnTo>
                  <a:cubicBezTo>
                    <a:pt x="0" y="38844"/>
                    <a:pt x="38844" y="0"/>
                    <a:pt x="86760" y="0"/>
                  </a:cubicBezTo>
                  <a:close/>
                </a:path>
              </a:pathLst>
            </a:custGeom>
            <a:solidFill>
              <a:srgbClr val="F7562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1146356" cy="323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WILMER ACOSTA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67962"/>
            <a:ext cx="939256" cy="953275"/>
          </a:xfrm>
          <a:custGeom>
            <a:avLst/>
            <a:gdLst/>
            <a:ahLst/>
            <a:cxnLst/>
            <a:rect r="r" b="b" t="t" l="l"/>
            <a:pathLst>
              <a:path h="953275" w="939256">
                <a:moveTo>
                  <a:pt x="0" y="0"/>
                </a:moveTo>
                <a:lnTo>
                  <a:pt x="939256" y="0"/>
                </a:lnTo>
                <a:lnTo>
                  <a:pt x="939256" y="953274"/>
                </a:lnTo>
                <a:lnTo>
                  <a:pt x="0" y="953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669" t="-13169" r="-13072" b="-1269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65002" y="1834399"/>
            <a:ext cx="8694298" cy="2562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999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DATA SCIENCE &amp; MACHINE LEARNING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12685" y="1222018"/>
            <a:ext cx="3856045" cy="32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spc="107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IRONHACK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12685" y="1616931"/>
            <a:ext cx="3856045" cy="21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500" spc="73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PROYECTO FINAL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99292" y="7517694"/>
            <a:ext cx="1260008" cy="1653948"/>
          </a:xfrm>
          <a:custGeom>
            <a:avLst/>
            <a:gdLst/>
            <a:ahLst/>
            <a:cxnLst/>
            <a:rect r="r" b="b" t="t" l="l"/>
            <a:pathLst>
              <a:path h="1653948" w="1260008">
                <a:moveTo>
                  <a:pt x="0" y="0"/>
                </a:moveTo>
                <a:lnTo>
                  <a:pt x="1260008" y="0"/>
                </a:lnTo>
                <a:lnTo>
                  <a:pt x="1260008" y="1653948"/>
                </a:lnTo>
                <a:lnTo>
                  <a:pt x="0" y="1653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97142" y="3639420"/>
            <a:ext cx="9085204" cy="14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9600" spc="47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ASISTENTE VIRTUAL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23812" y="5460744"/>
            <a:ext cx="4332446" cy="220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  <a:spcBef>
                <a:spcPct val="0"/>
              </a:spcBef>
            </a:pPr>
            <a:r>
              <a:rPr lang="en-US" sz="14400" spc="705">
                <a:solidFill>
                  <a:srgbClr val="FEC801"/>
                </a:solidFill>
                <a:latin typeface="Cheddar"/>
                <a:ea typeface="Cheddar"/>
                <a:cs typeface="Cheddar"/>
                <a:sym typeface="Cheddar"/>
              </a:rPr>
              <a:t>VENTO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11234" y="2466657"/>
            <a:ext cx="7948066" cy="618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6" indent="-367028" lvl="1">
              <a:lnSpc>
                <a:spcPts val="5439"/>
              </a:lnSpc>
              <a:buAutoNum type="arabicPeriod" startAt="1"/>
            </a:pPr>
            <a:r>
              <a:rPr lang="en-US" b="true" sz="33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Introducción</a:t>
            </a:r>
          </a:p>
          <a:p>
            <a:pPr algn="l" marL="734056" indent="-367028" lvl="1">
              <a:lnSpc>
                <a:spcPts val="5439"/>
              </a:lnSpc>
              <a:buAutoNum type="arabicPeriod" startAt="1"/>
            </a:pPr>
            <a:r>
              <a:rPr lang="en-US" b="true" sz="33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Caso de estudio</a:t>
            </a:r>
          </a:p>
          <a:p>
            <a:pPr algn="l" marL="734056" indent="-367028" lvl="1">
              <a:lnSpc>
                <a:spcPts val="5439"/>
              </a:lnSpc>
              <a:buAutoNum type="arabicPeriod" startAt="1"/>
            </a:pPr>
            <a:r>
              <a:rPr lang="en-US" b="true" sz="33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Problematica</a:t>
            </a:r>
          </a:p>
          <a:p>
            <a:pPr algn="l" marL="734056" indent="-367028" lvl="1">
              <a:lnSpc>
                <a:spcPts val="5439"/>
              </a:lnSpc>
              <a:buAutoNum type="arabicPeriod" startAt="1"/>
            </a:pPr>
            <a:r>
              <a:rPr lang="en-US" sz="33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Solución propuesta</a:t>
            </a:r>
          </a:p>
          <a:p>
            <a:pPr algn="l" marL="734056" indent="-367028" lvl="1">
              <a:lnSpc>
                <a:spcPts val="5439"/>
              </a:lnSpc>
              <a:buAutoNum type="arabicPeriod" startAt="1"/>
            </a:pPr>
            <a:r>
              <a:rPr lang="en-US" b="true" sz="33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Pipeline</a:t>
            </a:r>
          </a:p>
          <a:p>
            <a:pPr algn="l" marL="734056" indent="-367028" lvl="1">
              <a:lnSpc>
                <a:spcPts val="5439"/>
              </a:lnSpc>
              <a:buAutoNum type="arabicPeriod" startAt="1"/>
            </a:pPr>
            <a:r>
              <a:rPr lang="en-US" b="true" sz="33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Deploy en producción</a:t>
            </a:r>
          </a:p>
          <a:p>
            <a:pPr algn="l" marL="734056" indent="-367028" lvl="1">
              <a:lnSpc>
                <a:spcPts val="5439"/>
              </a:lnSpc>
              <a:buAutoNum type="arabicPeriod" startAt="1"/>
            </a:pPr>
            <a:r>
              <a:rPr lang="en-US" b="true" sz="33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Lecciones aprendidas</a:t>
            </a:r>
          </a:p>
          <a:p>
            <a:pPr algn="l" marL="734056" indent="-367028" lvl="1">
              <a:lnSpc>
                <a:spcPts val="5439"/>
              </a:lnSpc>
              <a:buAutoNum type="arabicPeriod" startAt="1"/>
            </a:pPr>
            <a:r>
              <a:rPr lang="en-US" sz="33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Proximos pasos</a:t>
            </a:r>
            <a:r>
              <a:rPr lang="en-US" sz="33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</a:p>
          <a:p>
            <a:pPr algn="l" marL="734056" indent="-367028" lvl="1">
              <a:lnSpc>
                <a:spcPts val="5439"/>
              </a:lnSpc>
              <a:buAutoNum type="arabicPeriod" startAt="1"/>
            </a:pPr>
            <a:r>
              <a:rPr lang="en-US" sz="33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Conclusiones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39355" y="1019175"/>
            <a:ext cx="6771698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INDICE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8927786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854631"/>
            <a:ext cx="8115300" cy="484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spc="171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CoNomad es un espacio de coworking y coliving para nómadas digitales situado en Corralejo, Fuerteventura. Con una comunidad global de usuarios que buscan información sobre servicios, precios y alojamiento, la demanda de atención rápida y precisa es constante.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25203" y="1028700"/>
            <a:ext cx="4214572" cy="3621897"/>
            <a:chOff x="0" y="0"/>
            <a:chExt cx="8128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97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19050"/>
              <a:ext cx="5842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b="true" sz="32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Shambhala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625203" y="4842807"/>
            <a:ext cx="4214572" cy="3621897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97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14300" y="19050"/>
              <a:ext cx="5842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b="true" sz="32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Bristol Sunset Beach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29780" y="2988141"/>
            <a:ext cx="4214572" cy="3621897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EC801"/>
            </a:solidFill>
            <a:ln w="1714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19050"/>
              <a:ext cx="5842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b="true" sz="32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CoNomad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11102" y="2930991"/>
            <a:ext cx="4214572" cy="3621897"/>
            <a:chOff x="0" y="0"/>
            <a:chExt cx="8128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97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19050"/>
              <a:ext cx="5842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b="true" sz="32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Holidays Home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920627" y="6720431"/>
            <a:ext cx="4214572" cy="3621897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97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19050"/>
              <a:ext cx="5842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b="true" sz="32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Destiny Home Real State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34356" y="4947582"/>
            <a:ext cx="4214572" cy="3621897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7562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28575"/>
              <a:ext cx="5842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9"/>
                </a:lnSpc>
              </a:pPr>
              <a:r>
                <a:rPr lang="en-US" b="true" sz="3199">
                  <a:solidFill>
                    <a:srgbClr val="FDF8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DESTINY GROUP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1019175"/>
            <a:ext cx="81153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CASO DE ESTUDIO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329780" y="6758531"/>
            <a:ext cx="4214572" cy="3621897"/>
            <a:chOff x="0" y="0"/>
            <a:chExt cx="812800" cy="698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14300" y="19050"/>
              <a:ext cx="5842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b="true" sz="320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Endorfina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81153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PROBLEMATICA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442381" y="3415551"/>
            <a:ext cx="11057462" cy="4675868"/>
            <a:chOff x="0" y="0"/>
            <a:chExt cx="2912253" cy="12315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2253" cy="1231504"/>
            </a:xfrm>
            <a:custGeom>
              <a:avLst/>
              <a:gdLst/>
              <a:ahLst/>
              <a:cxnLst/>
              <a:rect r="r" b="b" t="t" l="l"/>
              <a:pathLst>
                <a:path h="1231504" w="2912253">
                  <a:moveTo>
                    <a:pt x="35708" y="0"/>
                  </a:moveTo>
                  <a:lnTo>
                    <a:pt x="2876546" y="0"/>
                  </a:lnTo>
                  <a:cubicBezTo>
                    <a:pt x="2886016" y="0"/>
                    <a:pt x="2895098" y="3762"/>
                    <a:pt x="2901795" y="10459"/>
                  </a:cubicBezTo>
                  <a:cubicBezTo>
                    <a:pt x="2908491" y="17155"/>
                    <a:pt x="2912253" y="26238"/>
                    <a:pt x="2912253" y="35708"/>
                  </a:cubicBezTo>
                  <a:lnTo>
                    <a:pt x="2912253" y="1195796"/>
                  </a:lnTo>
                  <a:cubicBezTo>
                    <a:pt x="2912253" y="1215517"/>
                    <a:pt x="2896266" y="1231504"/>
                    <a:pt x="2876546" y="1231504"/>
                  </a:cubicBezTo>
                  <a:lnTo>
                    <a:pt x="35708" y="1231504"/>
                  </a:lnTo>
                  <a:cubicBezTo>
                    <a:pt x="15987" y="1231504"/>
                    <a:pt x="0" y="1215517"/>
                    <a:pt x="0" y="1195796"/>
                  </a:cubicBezTo>
                  <a:lnTo>
                    <a:pt x="0" y="35708"/>
                  </a:lnTo>
                  <a:cubicBezTo>
                    <a:pt x="0" y="15987"/>
                    <a:pt x="15987" y="0"/>
                    <a:pt x="35708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912253" cy="1298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82056" y="4353310"/>
            <a:ext cx="8750898" cy="269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La web (conomad.es) contiene toda la información sobre tarifas, servicios y reservas, pero los usuarios frecuentemente hacen preguntas repetitivas por whatsapp, email y redes sociales.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7527" y="1019175"/>
            <a:ext cx="14772946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SOLUCIÓN PROPUESTA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013953" y="2562182"/>
            <a:ext cx="14260094" cy="3280301"/>
            <a:chOff x="0" y="0"/>
            <a:chExt cx="3755745" cy="8639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5745" cy="863948"/>
            </a:xfrm>
            <a:custGeom>
              <a:avLst/>
              <a:gdLst/>
              <a:ahLst/>
              <a:cxnLst/>
              <a:rect r="r" b="b" t="t" l="l"/>
              <a:pathLst>
                <a:path h="863948" w="3755745">
                  <a:moveTo>
                    <a:pt x="27688" y="0"/>
                  </a:moveTo>
                  <a:lnTo>
                    <a:pt x="3728057" y="0"/>
                  </a:lnTo>
                  <a:cubicBezTo>
                    <a:pt x="3735400" y="0"/>
                    <a:pt x="3742442" y="2917"/>
                    <a:pt x="3747635" y="8110"/>
                  </a:cubicBezTo>
                  <a:cubicBezTo>
                    <a:pt x="3752828" y="13302"/>
                    <a:pt x="3755745" y="20345"/>
                    <a:pt x="3755745" y="27688"/>
                  </a:cubicBezTo>
                  <a:lnTo>
                    <a:pt x="3755745" y="836259"/>
                  </a:lnTo>
                  <a:cubicBezTo>
                    <a:pt x="3755745" y="843603"/>
                    <a:pt x="3752828" y="850645"/>
                    <a:pt x="3747635" y="855838"/>
                  </a:cubicBezTo>
                  <a:cubicBezTo>
                    <a:pt x="3742442" y="861030"/>
                    <a:pt x="3735400" y="863948"/>
                    <a:pt x="3728057" y="863948"/>
                  </a:cubicBezTo>
                  <a:lnTo>
                    <a:pt x="27688" y="863948"/>
                  </a:lnTo>
                  <a:cubicBezTo>
                    <a:pt x="20345" y="863948"/>
                    <a:pt x="13302" y="861030"/>
                    <a:pt x="8110" y="855838"/>
                  </a:cubicBezTo>
                  <a:cubicBezTo>
                    <a:pt x="2917" y="850645"/>
                    <a:pt x="0" y="843603"/>
                    <a:pt x="0" y="836259"/>
                  </a:cubicBezTo>
                  <a:lnTo>
                    <a:pt x="0" y="27688"/>
                  </a:lnTo>
                  <a:cubicBezTo>
                    <a:pt x="0" y="20345"/>
                    <a:pt x="2917" y="13302"/>
                    <a:pt x="8110" y="8110"/>
                  </a:cubicBezTo>
                  <a:cubicBezTo>
                    <a:pt x="13302" y="2917"/>
                    <a:pt x="20345" y="0"/>
                    <a:pt x="27688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3755745" cy="968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  <a:p>
              <a:pPr algn="ctr">
                <a:lnSpc>
                  <a:spcPts val="42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093023" y="3320953"/>
            <a:ext cx="12101954" cy="178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b="true" sz="3399" spc="166">
                <a:solidFill>
                  <a:srgbClr val="FDF8F8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Construir un chatbot RAG capaz de responder preguntas en el mismo idioma del usuario sobre CoNomad usando únicamente información de su sitio web con precisión y sin alucinaciones.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24378" y="2814416"/>
            <a:ext cx="3984347" cy="2593758"/>
            <a:chOff x="0" y="0"/>
            <a:chExt cx="1737573" cy="1131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7573" cy="1131138"/>
            </a:xfrm>
            <a:custGeom>
              <a:avLst/>
              <a:gdLst/>
              <a:ahLst/>
              <a:cxnLst/>
              <a:rect r="r" b="b" t="t" l="l"/>
              <a:pathLst>
                <a:path h="1131138" w="1737573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anchor="ctr" rtlCol="false" tIns="80497" lIns="80497" bIns="80497" rIns="80497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24378" y="6080544"/>
            <a:ext cx="3984347" cy="2593758"/>
            <a:chOff x="0" y="0"/>
            <a:chExt cx="1737573" cy="11311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37573" cy="1131138"/>
            </a:xfrm>
            <a:custGeom>
              <a:avLst/>
              <a:gdLst/>
              <a:ahLst/>
              <a:cxnLst/>
              <a:rect r="r" b="b" t="t" l="l"/>
              <a:pathLst>
                <a:path h="1131138" w="1737573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anchor="ctr" rtlCol="false" tIns="80497" lIns="80497" bIns="80497" rIns="80497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51827" y="2814416"/>
            <a:ext cx="3984347" cy="2593758"/>
            <a:chOff x="0" y="0"/>
            <a:chExt cx="1737573" cy="11311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7573" cy="1131138"/>
            </a:xfrm>
            <a:custGeom>
              <a:avLst/>
              <a:gdLst/>
              <a:ahLst/>
              <a:cxnLst/>
              <a:rect r="r" b="b" t="t" l="l"/>
              <a:pathLst>
                <a:path h="1131138" w="1737573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anchor="ctr" rtlCol="false" tIns="80497" lIns="80497" bIns="80497" rIns="80497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51827" y="6080544"/>
            <a:ext cx="3984347" cy="2593758"/>
            <a:chOff x="0" y="0"/>
            <a:chExt cx="1737573" cy="11311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7573" cy="1131138"/>
            </a:xfrm>
            <a:custGeom>
              <a:avLst/>
              <a:gdLst/>
              <a:ahLst/>
              <a:cxnLst/>
              <a:rect r="r" b="b" t="t" l="l"/>
              <a:pathLst>
                <a:path h="1131138" w="1737573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anchor="ctr" rtlCol="false" tIns="80497" lIns="80497" bIns="80497" rIns="80497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79275" y="2814416"/>
            <a:ext cx="3984347" cy="2593758"/>
            <a:chOff x="0" y="0"/>
            <a:chExt cx="1737573" cy="11311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37573" cy="1131138"/>
            </a:xfrm>
            <a:custGeom>
              <a:avLst/>
              <a:gdLst/>
              <a:ahLst/>
              <a:cxnLst/>
              <a:rect r="r" b="b" t="t" l="l"/>
              <a:pathLst>
                <a:path h="1131138" w="1737573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anchor="ctr" rtlCol="false" tIns="80497" lIns="80497" bIns="80497" rIns="80497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79275" y="6080544"/>
            <a:ext cx="3984347" cy="2593758"/>
            <a:chOff x="0" y="0"/>
            <a:chExt cx="1737573" cy="11311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37573" cy="1131138"/>
            </a:xfrm>
            <a:custGeom>
              <a:avLst/>
              <a:gdLst/>
              <a:ahLst/>
              <a:cxnLst/>
              <a:rect r="r" b="b" t="t" l="l"/>
              <a:pathLst>
                <a:path h="1131138" w="1737573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anchor="ctr" rtlCol="false" tIns="80497" lIns="80497" bIns="80497" rIns="80497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674550" y="2344966"/>
            <a:ext cx="938900" cy="93890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674550" y="5611094"/>
            <a:ext cx="938900" cy="93890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947101" y="2344966"/>
            <a:ext cx="938900" cy="93890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947101" y="5611094"/>
            <a:ext cx="938900" cy="93890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401998" y="2344966"/>
            <a:ext cx="938900" cy="938900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401998" y="5611094"/>
            <a:ext cx="938900" cy="938900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28700" y="1019175"/>
            <a:ext cx="81153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PIPELINE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647870" y="3521991"/>
            <a:ext cx="35373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WEB SCRAPING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647870" y="4294298"/>
            <a:ext cx="3537364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 spc="117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BeautifulSoup</a:t>
            </a:r>
          </a:p>
          <a:p>
            <a:pPr algn="ctr">
              <a:lnSpc>
                <a:spcPts val="2400"/>
              </a:lnSpc>
            </a:pPr>
            <a:r>
              <a:rPr lang="en-US" b="true" sz="2400" spc="117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requests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647870" y="7512019"/>
            <a:ext cx="3537364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 spc="117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FAISS IndexFlatIP</a:t>
            </a:r>
          </a:p>
          <a:p>
            <a:pPr algn="ctr">
              <a:lnSpc>
                <a:spcPts val="2400"/>
              </a:lnSpc>
            </a:pPr>
            <a:r>
              <a:rPr lang="en-US" b="true" sz="2400" spc="117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similitud coseno</a:t>
            </a:r>
          </a:p>
          <a:p>
            <a:pPr algn="ctr">
              <a:lnSpc>
                <a:spcPts val="2400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7375318" y="4294298"/>
            <a:ext cx="3537364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 spc="117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tiktoken</a:t>
            </a:r>
          </a:p>
          <a:p>
            <a:pPr algn="ctr">
              <a:lnSpc>
                <a:spcPts val="2400"/>
              </a:lnSpc>
            </a:pPr>
            <a:r>
              <a:rPr lang="en-US" b="true" sz="2400" spc="117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500 tokens + overlap</a:t>
            </a:r>
          </a:p>
          <a:p>
            <a:pPr algn="ctr">
              <a:lnSpc>
                <a:spcPts val="2400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2102766" y="4294298"/>
            <a:ext cx="3537364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 spc="117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text-embedding-3-small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102766" y="7512019"/>
            <a:ext cx="3537364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 spc="117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GPT-4o</a:t>
            </a:r>
          </a:p>
          <a:p>
            <a:pPr algn="ctr">
              <a:lnSpc>
                <a:spcPts val="2400"/>
              </a:lnSpc>
            </a:pPr>
            <a:r>
              <a:rPr lang="en-US" b="true" sz="2400" spc="117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Syst</a:t>
            </a:r>
            <a:r>
              <a:rPr lang="en-US" b="true" sz="2400" spc="117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em Prompt RAG</a:t>
            </a:r>
          </a:p>
          <a:p>
            <a:pPr algn="ctr">
              <a:lnSpc>
                <a:spcPts val="2400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2647870" y="6730969"/>
            <a:ext cx="35373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VECTOR STORE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375318" y="3521991"/>
            <a:ext cx="35373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CHUNKING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375318" y="6730969"/>
            <a:ext cx="35373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RETRIEVAL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102766" y="3521991"/>
            <a:ext cx="35373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EMBEDDINGS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102766" y="6730969"/>
            <a:ext cx="35373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GENERACIÓN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151827" y="7512019"/>
            <a:ext cx="3984347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400" spc="117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TOP-K = 5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400" spc="117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chunks relevantes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81153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DEPLOY EN PRODUCCIÓN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16609" y="4601415"/>
            <a:ext cx="7294445" cy="803783"/>
            <a:chOff x="0" y="0"/>
            <a:chExt cx="1921171" cy="2116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21171" cy="211696"/>
            </a:xfrm>
            <a:custGeom>
              <a:avLst/>
              <a:gdLst/>
              <a:ahLst/>
              <a:cxnLst/>
              <a:rect r="r" b="b" t="t" l="l"/>
              <a:pathLst>
                <a:path h="211696" w="1921171">
                  <a:moveTo>
                    <a:pt x="54129" y="0"/>
                  </a:moveTo>
                  <a:lnTo>
                    <a:pt x="1867042" y="0"/>
                  </a:lnTo>
                  <a:cubicBezTo>
                    <a:pt x="1896937" y="0"/>
                    <a:pt x="1921171" y="24234"/>
                    <a:pt x="1921171" y="54129"/>
                  </a:cubicBezTo>
                  <a:lnTo>
                    <a:pt x="1921171" y="157567"/>
                  </a:lnTo>
                  <a:cubicBezTo>
                    <a:pt x="1921171" y="171923"/>
                    <a:pt x="1915468" y="185691"/>
                    <a:pt x="1905317" y="195842"/>
                  </a:cubicBezTo>
                  <a:cubicBezTo>
                    <a:pt x="1895166" y="205993"/>
                    <a:pt x="1881398" y="211696"/>
                    <a:pt x="1867042" y="211696"/>
                  </a:cubicBezTo>
                  <a:lnTo>
                    <a:pt x="54129" y="211696"/>
                  </a:lnTo>
                  <a:cubicBezTo>
                    <a:pt x="24234" y="211696"/>
                    <a:pt x="0" y="187462"/>
                    <a:pt x="0" y="157567"/>
                  </a:cubicBezTo>
                  <a:lnTo>
                    <a:pt x="0" y="54129"/>
                  </a:lnTo>
                  <a:cubicBezTo>
                    <a:pt x="0" y="24234"/>
                    <a:pt x="24234" y="0"/>
                    <a:pt x="54129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1921171" cy="316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Backend — FastAPI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89218" y="5690948"/>
            <a:ext cx="7294445" cy="803783"/>
            <a:chOff x="0" y="0"/>
            <a:chExt cx="1921171" cy="2116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171" cy="211696"/>
            </a:xfrm>
            <a:custGeom>
              <a:avLst/>
              <a:gdLst/>
              <a:ahLst/>
              <a:cxnLst/>
              <a:rect r="r" b="b" t="t" l="l"/>
              <a:pathLst>
                <a:path h="211696" w="1921171">
                  <a:moveTo>
                    <a:pt x="54129" y="0"/>
                  </a:moveTo>
                  <a:lnTo>
                    <a:pt x="1867042" y="0"/>
                  </a:lnTo>
                  <a:cubicBezTo>
                    <a:pt x="1896937" y="0"/>
                    <a:pt x="1921171" y="24234"/>
                    <a:pt x="1921171" y="54129"/>
                  </a:cubicBezTo>
                  <a:lnTo>
                    <a:pt x="1921171" y="157567"/>
                  </a:lnTo>
                  <a:cubicBezTo>
                    <a:pt x="1921171" y="171923"/>
                    <a:pt x="1915468" y="185691"/>
                    <a:pt x="1905317" y="195842"/>
                  </a:cubicBezTo>
                  <a:cubicBezTo>
                    <a:pt x="1895166" y="205993"/>
                    <a:pt x="1881398" y="211696"/>
                    <a:pt x="1867042" y="211696"/>
                  </a:cubicBezTo>
                  <a:lnTo>
                    <a:pt x="54129" y="211696"/>
                  </a:lnTo>
                  <a:cubicBezTo>
                    <a:pt x="24234" y="211696"/>
                    <a:pt x="0" y="187462"/>
                    <a:pt x="0" y="157567"/>
                  </a:cubicBezTo>
                  <a:lnTo>
                    <a:pt x="0" y="54129"/>
                  </a:lnTo>
                  <a:cubicBezTo>
                    <a:pt x="0" y="24234"/>
                    <a:pt x="24234" y="0"/>
                    <a:pt x="54129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1921171" cy="316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Railway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89218" y="3509538"/>
            <a:ext cx="7294445" cy="804852"/>
            <a:chOff x="0" y="0"/>
            <a:chExt cx="1921171" cy="2119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1171" cy="211977"/>
            </a:xfrm>
            <a:custGeom>
              <a:avLst/>
              <a:gdLst/>
              <a:ahLst/>
              <a:cxnLst/>
              <a:rect r="r" b="b" t="t" l="l"/>
              <a:pathLst>
                <a:path h="211977" w="1921171">
                  <a:moveTo>
                    <a:pt x="54129" y="0"/>
                  </a:moveTo>
                  <a:lnTo>
                    <a:pt x="1867042" y="0"/>
                  </a:lnTo>
                  <a:cubicBezTo>
                    <a:pt x="1896937" y="0"/>
                    <a:pt x="1921171" y="24234"/>
                    <a:pt x="1921171" y="54129"/>
                  </a:cubicBezTo>
                  <a:lnTo>
                    <a:pt x="1921171" y="157849"/>
                  </a:lnTo>
                  <a:cubicBezTo>
                    <a:pt x="1921171" y="187743"/>
                    <a:pt x="1896937" y="211977"/>
                    <a:pt x="1867042" y="211977"/>
                  </a:cubicBezTo>
                  <a:lnTo>
                    <a:pt x="54129" y="211977"/>
                  </a:lnTo>
                  <a:cubicBezTo>
                    <a:pt x="39773" y="211977"/>
                    <a:pt x="26005" y="206275"/>
                    <a:pt x="15854" y="196124"/>
                  </a:cubicBezTo>
                  <a:cubicBezTo>
                    <a:pt x="5703" y="185972"/>
                    <a:pt x="0" y="172205"/>
                    <a:pt x="0" y="157849"/>
                  </a:cubicBezTo>
                  <a:lnTo>
                    <a:pt x="0" y="54129"/>
                  </a:lnTo>
                  <a:cubicBezTo>
                    <a:pt x="0" y="24234"/>
                    <a:pt x="24234" y="0"/>
                    <a:pt x="54129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04775"/>
              <a:ext cx="1921171" cy="316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índice FAISS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7795534"/>
            <a:ext cx="7294445" cy="803783"/>
            <a:chOff x="0" y="0"/>
            <a:chExt cx="1921171" cy="2116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1171" cy="211696"/>
            </a:xfrm>
            <a:custGeom>
              <a:avLst/>
              <a:gdLst/>
              <a:ahLst/>
              <a:cxnLst/>
              <a:rect r="r" b="b" t="t" l="l"/>
              <a:pathLst>
                <a:path h="211696" w="1921171">
                  <a:moveTo>
                    <a:pt x="54129" y="0"/>
                  </a:moveTo>
                  <a:lnTo>
                    <a:pt x="1867042" y="0"/>
                  </a:lnTo>
                  <a:cubicBezTo>
                    <a:pt x="1896937" y="0"/>
                    <a:pt x="1921171" y="24234"/>
                    <a:pt x="1921171" y="54129"/>
                  </a:cubicBezTo>
                  <a:lnTo>
                    <a:pt x="1921171" y="157567"/>
                  </a:lnTo>
                  <a:cubicBezTo>
                    <a:pt x="1921171" y="171923"/>
                    <a:pt x="1915468" y="185691"/>
                    <a:pt x="1905317" y="195842"/>
                  </a:cubicBezTo>
                  <a:cubicBezTo>
                    <a:pt x="1895166" y="205993"/>
                    <a:pt x="1881398" y="211696"/>
                    <a:pt x="1867042" y="211696"/>
                  </a:cubicBezTo>
                  <a:lnTo>
                    <a:pt x="54129" y="211696"/>
                  </a:lnTo>
                  <a:cubicBezTo>
                    <a:pt x="24234" y="211696"/>
                    <a:pt x="0" y="187462"/>
                    <a:pt x="0" y="157567"/>
                  </a:cubicBezTo>
                  <a:lnTo>
                    <a:pt x="0" y="54129"/>
                  </a:lnTo>
                  <a:cubicBezTo>
                    <a:pt x="0" y="24234"/>
                    <a:pt x="24234" y="0"/>
                    <a:pt x="54129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04775"/>
              <a:ext cx="1921171" cy="316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Widget HTML Embebible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89218" y="6780481"/>
            <a:ext cx="7294445" cy="803783"/>
            <a:chOff x="0" y="0"/>
            <a:chExt cx="1921171" cy="2116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21171" cy="211696"/>
            </a:xfrm>
            <a:custGeom>
              <a:avLst/>
              <a:gdLst/>
              <a:ahLst/>
              <a:cxnLst/>
              <a:rect r="r" b="b" t="t" l="l"/>
              <a:pathLst>
                <a:path h="211696" w="1921171">
                  <a:moveTo>
                    <a:pt x="54129" y="0"/>
                  </a:moveTo>
                  <a:lnTo>
                    <a:pt x="1867042" y="0"/>
                  </a:lnTo>
                  <a:cubicBezTo>
                    <a:pt x="1896937" y="0"/>
                    <a:pt x="1921171" y="24234"/>
                    <a:pt x="1921171" y="54129"/>
                  </a:cubicBezTo>
                  <a:lnTo>
                    <a:pt x="1921171" y="157567"/>
                  </a:lnTo>
                  <a:cubicBezTo>
                    <a:pt x="1921171" y="171923"/>
                    <a:pt x="1915468" y="185691"/>
                    <a:pt x="1905317" y="195842"/>
                  </a:cubicBezTo>
                  <a:cubicBezTo>
                    <a:pt x="1895166" y="205993"/>
                    <a:pt x="1881398" y="211696"/>
                    <a:pt x="1867042" y="211696"/>
                  </a:cubicBezTo>
                  <a:lnTo>
                    <a:pt x="54129" y="211696"/>
                  </a:lnTo>
                  <a:cubicBezTo>
                    <a:pt x="24234" y="211696"/>
                    <a:pt x="0" y="187462"/>
                    <a:pt x="0" y="157567"/>
                  </a:cubicBezTo>
                  <a:lnTo>
                    <a:pt x="0" y="54129"/>
                  </a:lnTo>
                  <a:cubicBezTo>
                    <a:pt x="0" y="24234"/>
                    <a:pt x="24234" y="0"/>
                    <a:pt x="54129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04775"/>
              <a:ext cx="1921171" cy="316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CORS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hlinkClick r:id="rId3" tooltip="http://www.conomad.es"/>
          </p:cNvPr>
          <p:cNvSpPr/>
          <p:nvPr/>
        </p:nvSpPr>
        <p:spPr>
          <a:xfrm flipH="false" flipV="false" rot="0">
            <a:off x="0" y="609621"/>
            <a:ext cx="18288000" cy="9067758"/>
          </a:xfrm>
          <a:custGeom>
            <a:avLst/>
            <a:gdLst/>
            <a:ahLst/>
            <a:cxnLst/>
            <a:rect r="r" b="b" t="t" l="l"/>
            <a:pathLst>
              <a:path h="9067758" w="18288000">
                <a:moveTo>
                  <a:pt x="0" y="0"/>
                </a:moveTo>
                <a:lnTo>
                  <a:pt x="18288000" y="0"/>
                </a:lnTo>
                <a:lnTo>
                  <a:pt x="18288000" y="9067758"/>
                </a:lnTo>
                <a:lnTo>
                  <a:pt x="0" y="9067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8625" y="4437761"/>
            <a:ext cx="19065250" cy="4820539"/>
            <a:chOff x="0" y="0"/>
            <a:chExt cx="5021300" cy="12696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1300" cy="1269607"/>
            </a:xfrm>
            <a:custGeom>
              <a:avLst/>
              <a:gdLst/>
              <a:ahLst/>
              <a:cxnLst/>
              <a:rect r="r" b="b" t="t" l="l"/>
              <a:pathLst>
                <a:path h="1269607" w="5021300">
                  <a:moveTo>
                    <a:pt x="8121" y="0"/>
                  </a:moveTo>
                  <a:lnTo>
                    <a:pt x="5013179" y="0"/>
                  </a:lnTo>
                  <a:cubicBezTo>
                    <a:pt x="5015333" y="0"/>
                    <a:pt x="5017399" y="856"/>
                    <a:pt x="5018922" y="2379"/>
                  </a:cubicBezTo>
                  <a:cubicBezTo>
                    <a:pt x="5020445" y="3902"/>
                    <a:pt x="5021300" y="5968"/>
                    <a:pt x="5021300" y="8121"/>
                  </a:cubicBezTo>
                  <a:lnTo>
                    <a:pt x="5021300" y="1261485"/>
                  </a:lnTo>
                  <a:cubicBezTo>
                    <a:pt x="5021300" y="1263639"/>
                    <a:pt x="5020445" y="1265705"/>
                    <a:pt x="5018922" y="1267228"/>
                  </a:cubicBezTo>
                  <a:cubicBezTo>
                    <a:pt x="5017399" y="1268751"/>
                    <a:pt x="5015333" y="1269607"/>
                    <a:pt x="5013179" y="1269607"/>
                  </a:cubicBezTo>
                  <a:lnTo>
                    <a:pt x="8121" y="1269607"/>
                  </a:lnTo>
                  <a:cubicBezTo>
                    <a:pt x="5968" y="1269607"/>
                    <a:pt x="3902" y="1268751"/>
                    <a:pt x="2379" y="1267228"/>
                  </a:cubicBezTo>
                  <a:cubicBezTo>
                    <a:pt x="856" y="1265705"/>
                    <a:pt x="0" y="1263639"/>
                    <a:pt x="0" y="1261485"/>
                  </a:cubicBezTo>
                  <a:lnTo>
                    <a:pt x="0" y="8121"/>
                  </a:lnTo>
                  <a:cubicBezTo>
                    <a:pt x="0" y="5968"/>
                    <a:pt x="856" y="3902"/>
                    <a:pt x="2379" y="2379"/>
                  </a:cubicBezTo>
                  <a:cubicBezTo>
                    <a:pt x="3902" y="856"/>
                    <a:pt x="5968" y="0"/>
                    <a:pt x="8121" y="0"/>
                  </a:cubicBezTo>
                  <a:close/>
                </a:path>
              </a:pathLst>
            </a:custGeom>
            <a:solidFill>
              <a:srgbClr val="02B676">
                <a:alpha val="1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021300" cy="1279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019175"/>
            <a:ext cx="81153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LECCIONES APRENDIDAS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373604" y="3670524"/>
            <a:ext cx="1306762" cy="130676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566" y="0"/>
                  </a:moveTo>
                  <a:lnTo>
                    <a:pt x="700234" y="0"/>
                  </a:lnTo>
                  <a:cubicBezTo>
                    <a:pt x="762403" y="0"/>
                    <a:pt x="812800" y="50397"/>
                    <a:pt x="812800" y="112566"/>
                  </a:cubicBezTo>
                  <a:lnTo>
                    <a:pt x="812800" y="700234"/>
                  </a:lnTo>
                  <a:cubicBezTo>
                    <a:pt x="812800" y="762403"/>
                    <a:pt x="762403" y="812800"/>
                    <a:pt x="700234" y="812800"/>
                  </a:cubicBezTo>
                  <a:lnTo>
                    <a:pt x="112566" y="812800"/>
                  </a:lnTo>
                  <a:cubicBezTo>
                    <a:pt x="50397" y="812800"/>
                    <a:pt x="0" y="762403"/>
                    <a:pt x="0" y="700234"/>
                  </a:cubicBezTo>
                  <a:lnTo>
                    <a:pt x="0" y="112566"/>
                  </a:lnTo>
                  <a:cubicBezTo>
                    <a:pt x="0" y="50397"/>
                    <a:pt x="50397" y="0"/>
                    <a:pt x="112566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50"/>
                </a:lnSpc>
              </a:pPr>
              <a:r>
                <a:rPr lang="en-US" sz="5000" spc="355">
                  <a:solidFill>
                    <a:srgbClr val="FDF8F8"/>
                  </a:solidFill>
                  <a:latin typeface="Cheddar"/>
                  <a:ea typeface="Cheddar"/>
                  <a:cs typeface="Cheddar"/>
                  <a:sym typeface="Cheddar"/>
                </a:rPr>
                <a:t>01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54444" y="3670524"/>
            <a:ext cx="1306762" cy="130676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566" y="0"/>
                  </a:moveTo>
                  <a:lnTo>
                    <a:pt x="700234" y="0"/>
                  </a:lnTo>
                  <a:cubicBezTo>
                    <a:pt x="762403" y="0"/>
                    <a:pt x="812800" y="50397"/>
                    <a:pt x="812800" y="112566"/>
                  </a:cubicBezTo>
                  <a:lnTo>
                    <a:pt x="812800" y="700234"/>
                  </a:lnTo>
                  <a:cubicBezTo>
                    <a:pt x="812800" y="762403"/>
                    <a:pt x="762403" y="812800"/>
                    <a:pt x="700234" y="812800"/>
                  </a:cubicBezTo>
                  <a:lnTo>
                    <a:pt x="112566" y="812800"/>
                  </a:lnTo>
                  <a:cubicBezTo>
                    <a:pt x="50397" y="812800"/>
                    <a:pt x="0" y="762403"/>
                    <a:pt x="0" y="700234"/>
                  </a:cubicBezTo>
                  <a:lnTo>
                    <a:pt x="0" y="112566"/>
                  </a:lnTo>
                  <a:cubicBezTo>
                    <a:pt x="0" y="50397"/>
                    <a:pt x="50397" y="0"/>
                    <a:pt x="112566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50"/>
                </a:lnSpc>
              </a:pPr>
              <a:r>
                <a:rPr lang="en-US" sz="5000" spc="355">
                  <a:solidFill>
                    <a:srgbClr val="FDF8F8"/>
                  </a:solidFill>
                  <a:latin typeface="Cheddar"/>
                  <a:ea typeface="Cheddar"/>
                  <a:cs typeface="Cheddar"/>
                  <a:sym typeface="Cheddar"/>
                </a:rPr>
                <a:t>02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34957" y="3670524"/>
            <a:ext cx="1306762" cy="130676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2566" y="0"/>
                  </a:moveTo>
                  <a:lnTo>
                    <a:pt x="700234" y="0"/>
                  </a:lnTo>
                  <a:cubicBezTo>
                    <a:pt x="762403" y="0"/>
                    <a:pt x="812800" y="50397"/>
                    <a:pt x="812800" y="112566"/>
                  </a:cubicBezTo>
                  <a:lnTo>
                    <a:pt x="812800" y="700234"/>
                  </a:lnTo>
                  <a:cubicBezTo>
                    <a:pt x="812800" y="762403"/>
                    <a:pt x="762403" y="812800"/>
                    <a:pt x="700234" y="812800"/>
                  </a:cubicBezTo>
                  <a:lnTo>
                    <a:pt x="112566" y="812800"/>
                  </a:lnTo>
                  <a:cubicBezTo>
                    <a:pt x="50397" y="812800"/>
                    <a:pt x="0" y="762403"/>
                    <a:pt x="0" y="700234"/>
                  </a:cubicBezTo>
                  <a:lnTo>
                    <a:pt x="0" y="112566"/>
                  </a:lnTo>
                  <a:cubicBezTo>
                    <a:pt x="0" y="50397"/>
                    <a:pt x="50397" y="0"/>
                    <a:pt x="112566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50"/>
                </a:lnSpc>
              </a:pPr>
              <a:r>
                <a:rPr lang="en-US" sz="5000" spc="355">
                  <a:solidFill>
                    <a:srgbClr val="FDF8F8"/>
                  </a:solidFill>
                  <a:latin typeface="Cheddar"/>
                  <a:ea typeface="Cheddar"/>
                  <a:cs typeface="Cheddar"/>
                  <a:sym typeface="Cheddar"/>
                </a:rPr>
                <a:t>03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903766" y="6050755"/>
            <a:ext cx="445874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00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Definir bien el alcance antes de empezar es tan importante como saber programar.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58963" y="6059672"/>
            <a:ext cx="445874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00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Configuracion de variables, Github, rutas de índice FAISS, Railway, Api key, html, el bloqueo CORS, etc...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31365" y="6059672"/>
            <a:ext cx="4458749" cy="196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00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Versiones incompatibles, comportamientos distintos entre local, Colab y producción. </a:t>
            </a:r>
          </a:p>
          <a:p>
            <a:pPr algn="ctr">
              <a:lnSpc>
                <a:spcPts val="3080"/>
              </a:lnSpc>
            </a:pPr>
          </a:p>
          <a:p>
            <a:pPr algn="ctr">
              <a:lnSpc>
                <a:spcPts val="3080"/>
              </a:lnSpc>
            </a:pPr>
            <a:r>
              <a:rPr lang="en-US" sz="200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Importancias de un requirements.txt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93463" y="5205886"/>
            <a:ext cx="326704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SCOPE O CAOS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10478" y="5205886"/>
            <a:ext cx="326704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LAS DEPENDENCIAS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32152" y="5204154"/>
            <a:ext cx="371237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EL DEPLOY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886757" y="3754522"/>
            <a:ext cx="20061513" cy="0"/>
          </a:xfrm>
          <a:prstGeom prst="line">
            <a:avLst/>
          </a:prstGeom>
          <a:ln cap="flat" w="28575">
            <a:solidFill>
              <a:srgbClr val="02B67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019175"/>
            <a:ext cx="81153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PROXIMOS PASOS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32188" y="4688641"/>
            <a:ext cx="2680382" cy="1318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7"/>
              </a:lnSpc>
            </a:pPr>
            <a:r>
              <a:rPr lang="en-US" sz="4599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Corto plazo</a:t>
            </a:r>
          </a:p>
          <a:p>
            <a:pPr algn="l">
              <a:lnSpc>
                <a:spcPts val="4737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512660" y="4688641"/>
            <a:ext cx="2935405" cy="1318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7"/>
              </a:lnSpc>
            </a:pPr>
            <a:r>
              <a:rPr lang="en-US" sz="4599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Medio plazo</a:t>
            </a:r>
          </a:p>
          <a:p>
            <a:pPr algn="l">
              <a:lnSpc>
                <a:spcPts val="473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182484" y="4688641"/>
            <a:ext cx="2681690" cy="1318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7"/>
              </a:lnSpc>
            </a:pPr>
            <a:r>
              <a:rPr lang="en-US" sz="4599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Largo plazo</a:t>
            </a:r>
          </a:p>
          <a:p>
            <a:pPr algn="l">
              <a:lnSpc>
                <a:spcPts val="473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497806" y="6120764"/>
            <a:ext cx="2612972" cy="352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19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Respuesta a reservas, check-in, FAQs y seguimiento de clientes</a:t>
            </a:r>
          </a:p>
          <a:p>
            <a:pPr algn="ctr">
              <a:lnSpc>
                <a:spcPts val="3119"/>
              </a:lnSpc>
            </a:pPr>
          </a:p>
          <a:p>
            <a:pPr algn="ctr">
              <a:lnSpc>
                <a:spcPts val="3119"/>
              </a:lnSpc>
            </a:pPr>
            <a:r>
              <a:rPr lang="en-US" sz="19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Integrar los sistemas existentes con capa de IA</a:t>
            </a:r>
          </a:p>
          <a:p>
            <a:pPr algn="ctr">
              <a:lnSpc>
                <a:spcPts val="311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167630" y="6130289"/>
            <a:ext cx="2472572" cy="2356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19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Dashboard de métricas clave para que los managers tomen decisiones sin depender de intuición.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32188" y="6120764"/>
            <a:ext cx="2695236" cy="313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19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Mejorar el chatbot de CoNomad</a:t>
            </a:r>
          </a:p>
          <a:p>
            <a:pPr algn="ctr">
              <a:lnSpc>
                <a:spcPts val="3119"/>
              </a:lnSpc>
            </a:pPr>
          </a:p>
          <a:p>
            <a:pPr algn="ctr">
              <a:lnSpc>
                <a:spcPts val="3119"/>
              </a:lnSpc>
            </a:pPr>
            <a:r>
              <a:rPr lang="en-US" sz="19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Replicar el sistema </a:t>
            </a:r>
          </a:p>
          <a:p>
            <a:pPr algn="ctr">
              <a:lnSpc>
                <a:spcPts val="3119"/>
              </a:lnSpc>
            </a:pPr>
          </a:p>
          <a:p>
            <a:pPr algn="ctr">
              <a:lnSpc>
                <a:spcPts val="3119"/>
              </a:lnSpc>
            </a:pPr>
            <a:r>
              <a:rPr lang="en-US" sz="19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Adaptar el scraping y el índice a cada sitio web del grupo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40189" y="5608121"/>
            <a:ext cx="2363034" cy="399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8"/>
              </a:lnSpc>
              <a:spcBef>
                <a:spcPct val="0"/>
              </a:spcBef>
            </a:pPr>
            <a:r>
              <a:rPr lang="en-US" sz="260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Replicar el modelo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29412" y="5575228"/>
            <a:ext cx="2345531" cy="399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8"/>
              </a:lnSpc>
              <a:spcBef>
                <a:spcPct val="0"/>
              </a:spcBef>
            </a:pPr>
            <a:r>
              <a:rPr lang="en-US" sz="260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Automat</a:t>
            </a:r>
            <a:r>
              <a:rPr lang="en-US" sz="260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izarciones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18840" y="5575228"/>
            <a:ext cx="2170152" cy="399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8"/>
              </a:lnSpc>
              <a:spcBef>
                <a:spcPct val="0"/>
              </a:spcBef>
            </a:pPr>
            <a:r>
              <a:rPr lang="en-US" sz="260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Dato &amp; desiciones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05992" y="1211658"/>
            <a:ext cx="81153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CONCLUSIONES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05992" y="2874520"/>
            <a:ext cx="9118633" cy="578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6"/>
              </a:lnSpc>
              <a:spcBef>
                <a:spcPct val="0"/>
              </a:spcBef>
            </a:pPr>
          </a:p>
          <a:p>
            <a:pPr algn="just">
              <a:lnSpc>
                <a:spcPts val="3296"/>
              </a:lnSpc>
              <a:spcBef>
                <a:spcPct val="0"/>
              </a:spcBef>
            </a:pPr>
            <a:r>
              <a:rPr lang="en-US" b="true" sz="3200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Técnica:</a:t>
            </a:r>
          </a:p>
          <a:p>
            <a:pPr algn="just">
              <a:lnSpc>
                <a:spcPts val="3296"/>
              </a:lnSpc>
              <a:spcBef>
                <a:spcPct val="0"/>
              </a:spcBef>
            </a:pPr>
            <a:r>
              <a:rPr lang="en-US" sz="320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Construí un pipeline </a:t>
            </a:r>
            <a:r>
              <a:rPr lang="en-US" sz="320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RAG</a:t>
            </a:r>
            <a:r>
              <a:rPr lang="en-US" sz="320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 completo, funcional y desplegado en producción con un caso de uso real.</a:t>
            </a:r>
          </a:p>
          <a:p>
            <a:pPr algn="just">
              <a:lnSpc>
                <a:spcPts val="3296"/>
              </a:lnSpc>
              <a:spcBef>
                <a:spcPct val="0"/>
              </a:spcBef>
            </a:pPr>
          </a:p>
          <a:p>
            <a:pPr algn="just">
              <a:lnSpc>
                <a:spcPts val="3296"/>
              </a:lnSpc>
              <a:spcBef>
                <a:spcPct val="0"/>
              </a:spcBef>
            </a:pPr>
            <a:r>
              <a:rPr lang="en-US" b="true" sz="3200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Estratégica:</a:t>
            </a:r>
          </a:p>
          <a:p>
            <a:pPr algn="just">
              <a:lnSpc>
                <a:spcPts val="3296"/>
              </a:lnSpc>
              <a:spcBef>
                <a:spcPct val="0"/>
              </a:spcBef>
            </a:pPr>
            <a:r>
              <a:rPr lang="en-US" sz="320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P</a:t>
            </a:r>
            <a:r>
              <a:rPr lang="en-US" sz="320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320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v</a:t>
            </a:r>
            <a:r>
              <a:rPr lang="en-US" sz="320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320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tar d</a:t>
            </a:r>
            <a:r>
              <a:rPr lang="en-US" sz="320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320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 proyecto fue la primera decisión profesional real que tomé durante el bootcamp.</a:t>
            </a:r>
          </a:p>
          <a:p>
            <a:pPr algn="just">
              <a:lnSpc>
                <a:spcPts val="3296"/>
              </a:lnSpc>
              <a:spcBef>
                <a:spcPct val="0"/>
              </a:spcBef>
            </a:pPr>
          </a:p>
          <a:p>
            <a:pPr algn="just">
              <a:lnSpc>
                <a:spcPts val="3296"/>
              </a:lnSpc>
              <a:spcBef>
                <a:spcPct val="0"/>
              </a:spcBef>
            </a:pPr>
            <a:r>
              <a:rPr lang="en-US" b="true" sz="3200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Personal:</a:t>
            </a:r>
          </a:p>
          <a:p>
            <a:pPr algn="just">
              <a:lnSpc>
                <a:spcPts val="3296"/>
              </a:lnSpc>
              <a:spcBef>
                <a:spcPct val="0"/>
              </a:spcBef>
            </a:pPr>
            <a:r>
              <a:rPr lang="en-US" sz="320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Este proyecto no es m</a:t>
            </a:r>
            <a:r>
              <a:rPr lang="en-US" sz="320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i </a:t>
            </a:r>
            <a:r>
              <a:rPr lang="en-US" sz="320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trabajo final. Es mi punto de partida.</a:t>
            </a:r>
          </a:p>
          <a:p>
            <a:pPr algn="just">
              <a:lnSpc>
                <a:spcPts val="329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7527" y="2415950"/>
            <a:ext cx="14772946" cy="220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4400" spc="705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MUCHAS 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DAHETWyO-NU</dc:identifier>
  <dcterms:modified xsi:type="dcterms:W3CDTF">2011-08-01T06:04:30Z</dcterms:modified>
  <cp:revision>1</cp:revision>
  <dc:title>IRONHACK DS &amp; ML</dc:title>
</cp:coreProperties>
</file>